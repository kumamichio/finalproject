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3291840" cy="1155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286000"/>
            <a:ext cx="7040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10E2B"/>
                </a:solidFill>
                <a:latin typeface="Arial"/>
              </a:rPr>
              <a:t>HỆ THỐNG LIÊN CAMERA 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10E2B"/>
                </a:solidFill>
                <a:latin typeface="Arial"/>
              </a:rPr>
              <a:t>THEO DÕI ĐỐI TƯỢNG VÀ DỰ ĐOÁN HƯỚNG ĐI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3977639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0B2850"/>
                </a:solidFill>
                <a:latin typeface="Arial"/>
              </a:rPr>
              <a:t>Phát hiện – Theo dõi – Dự đoán hướng đi trên video CCTV giao thông thật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480060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A2230"/>
                </a:solidFill>
                <a:latin typeface="Arial"/>
              </a:rPr>
              <a:t>Sinh viên: Phan Sỹ Hùng   ·   MSSV: 20225631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2230"/>
                </a:solidFill>
                <a:latin typeface="Arial"/>
              </a:rPr>
              <a:t>Chương trình: Công nghệ thông tin Việt-Nhật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2230"/>
                </a:solidFill>
                <a:latin typeface="Arial"/>
              </a:rPr>
              <a:t>Giảng viên hướng dẫn: ThS. Vũ Đức Vượng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6272"/>
                </a:solidFill>
                <a:latin typeface="Arial"/>
              </a:rPr>
              <a:t>Khoa Học Máy Tính · Trường CNTT &amp; Truyền thông · Hà Nội, 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Nội dung trình bày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96012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1A2230"/>
                </a:solidFill>
                <a:latin typeface="Arial"/>
              </a:rPr>
              <a:t>•  1.  Đặt vấn đề &amp; động lực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1A2230"/>
                </a:solidFill>
                <a:latin typeface="Arial"/>
              </a:rPr>
              <a:t>•  2.  Mục tiêu, phạm vi và hướng giải quyết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1A2230"/>
                </a:solidFill>
                <a:latin typeface="Arial"/>
              </a:rPr>
              <a:t>•  3.  Kiến trúc hệ thống &amp; phương pháp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1A2230"/>
                </a:solidFill>
                <a:latin typeface="Arial"/>
              </a:rPr>
              <a:t>•  4.  Dữ liệu và quy trình huấn luyện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1A2230"/>
                </a:solidFill>
                <a:latin typeface="Arial"/>
              </a:rPr>
              <a:t>•  5.  Kết quả thực nghiệm (trên dữ liệu thật)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1A2230"/>
                </a:solidFill>
                <a:latin typeface="Arial"/>
              </a:rPr>
              <a:t>•  6.  Thảo luận – đánh giá trung thực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1A2230"/>
                </a:solidFill>
                <a:latin typeface="Arial"/>
              </a:rPr>
              <a:t>•  7.  Kết luận, đóng góp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1. Đặt 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97510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56272"/>
                </a:solidFill>
                <a:latin typeface="Arial"/>
              </a:rPr>
              <a:t>Giám sát giao thông bằng camera tại đô thị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1A2230"/>
                </a:solidFill>
                <a:latin typeface="Arial"/>
              </a:rPr>
              <a:t>•  Camera giám sát tăng nhanh, nhưng phần lớn vận hành THỤ ĐỘNG: ghi hình + người trực quan sát.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1A2230"/>
                </a:solidFill>
                <a:latin typeface="Arial"/>
              </a:rPr>
              <a:t>•  Ba hạn chế cốt lõi: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>
                <a:solidFill>
                  <a:srgbClr val="556272"/>
                </a:solidFill>
                <a:latin typeface="Arial"/>
              </a:rPr>
              <a:t>   – Không phát hiện vi phạm theo thời gian thực — chủ yếu xem lại sau khi đã xảy ra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>
                <a:solidFill>
                  <a:srgbClr val="556272"/>
                </a:solidFill>
                <a:latin typeface="Arial"/>
              </a:rPr>
              <a:t>   – Mỗi camera độc lập, không có "trí nhớ" về phương tiện khi rời khung hình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>
                <a:solidFill>
                  <a:srgbClr val="556272"/>
                </a:solidFill>
                <a:latin typeface="Arial"/>
              </a:rPr>
              <a:t>   – Chỉ phản ứng, không dự đoán được phương tiện sẽ đi hướng nào tiếp theo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1A2230"/>
                </a:solidFill>
                <a:latin typeface="Arial"/>
              </a:rPr>
              <a:t>•  Đặc thù VN: mật độ xe máy áp đảo, vật thể nhỏ, che khuất nhiều → khó cho các mô hình sẵn có.</a:t>
            </a:r>
          </a:p>
        </p:txBody>
      </p:sp>
      <p:pic>
        <p:nvPicPr>
          <p:cNvPr id="8" name="Picture 7" descr="02_cctv_pho_hue_sample_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0" y="2514600"/>
            <a:ext cx="4267199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0" y="574243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Khung hình CCTV thật — nút Phố Huế, Hà Nội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2. Mục tiêu, phạm vi &amp; hướng giải quyết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64922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230"/>
                </a:solidFill>
                <a:latin typeface="Arial"/>
              </a:rPr>
              <a:t>•  Mục tiêu: hệ thống giám sát AI đa camera, vận hành trên video CCTV THẬT của một tuyến nhiều giao lộ ở Hà Nội.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230"/>
                </a:solidFill>
                <a:latin typeface="Arial"/>
              </a:rPr>
              <a:t>•  Ba chức năng chính: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Phát hiện + theo dõi phương tiện; phán đoán vi phạm (vượt đèn đỏ/vạch dừng, sai làn)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Đánh dấu đối tượng nghi vấn kèm lưu biển số khi đọc được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Dự đoán HƯỚNG DI CHUYỂN của phương tiện, hiển thị trên bản đồ thật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230"/>
                </a:solidFill>
                <a:latin typeface="Arial"/>
              </a:rPr>
              <a:t>•  Khoảng trống: chưa giải pháp nào (học thuật/thương mại) gộp cả 3 năng lực trên dữ liệu giao thông VN.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230"/>
                </a:solidFill>
                <a:latin typeface="Arial"/>
              </a:rPr>
              <a:t>•  So với công trình gần nhất (Chau et al., ICIT 2023 — dự đoán ngắn hạn, 1 camera): đề tài đi tới dự đoán hướng đi ở ngã tư.</a:t>
            </a:r>
          </a:p>
        </p:txBody>
      </p:sp>
      <p:pic>
        <p:nvPicPr>
          <p:cNvPr id="7" name="Picture 6" descr="usecase_tong_qu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914719"/>
            <a:ext cx="4389120" cy="24916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5833872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Sơ đồ use case tổng quát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3. Kiến trúc hệ thống &amp; pipeline xử lý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60350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230"/>
                </a:solidFill>
                <a:latin typeface="Arial"/>
              </a:rPr>
              <a:t>•  Pipeline nhiều mô hình chuyên biệt nối tiếp (thay vì 1 mô hình end-to-end) → mỗi thành phần tinh chỉnh riêng trên dữ liệu VN.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230"/>
                </a:solidFill>
                <a:latin typeface="Arial"/>
              </a:rPr>
              <a:t>•  Bốn thành phần chính: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① Phát hiện — YOLO11s_vn (5 lớp giao thông)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② Theo dõi 1 camera — ByteTrack (Kalman + Hungarian)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③ Dự đoán quỹ đạo ngắn hạn — Kalman Filter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④ Dự đoán hướng đi — Goal Classifier (đóng góp chính)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A2230"/>
                </a:solidFill>
                <a:latin typeface="Arial"/>
              </a:rPr>
              <a:t>•  Bổ trợ: phát hiện vi phạm theo luật + nhận dạng biển số; hiển thị dashboard &amp; bản đồ.</a:t>
            </a:r>
          </a:p>
        </p:txBody>
      </p:sp>
      <p:pic>
        <p:nvPicPr>
          <p:cNvPr id="7" name="Picture 6" descr="component_kien_truc_tong_t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353" y="2468880"/>
            <a:ext cx="3249053" cy="3337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58338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Kiến trúc tổng thể của hệ thống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3.1. Phát hiện đối tượng — YOLO11s_vn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943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YOLO11s fine-tune cho giao thông VN, 5 lớp: người, ô tô, xe máy, xe buýt, xe tải.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Chọn bản 's' để cân bằng tốc độ/độ chính xác cho triển khai đa camera thời gian thực.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Suy luận theo lô (batch) nhiều camera + NMS; đầu ra là hộp bao + lớp + độ tin cậy.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Thách thức đã xử lý: xe máy nhỏ, mật độ cao, che khuất (mục 3.1 báo cáo).</a:t>
            </a:r>
          </a:p>
        </p:txBody>
      </p:sp>
      <p:pic>
        <p:nvPicPr>
          <p:cNvPr id="7" name="Picture 6" descr="05_detection_yolo11s_vn_predict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761702"/>
            <a:ext cx="4892040" cy="27976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5833872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Kết quả phát hiện trên khung CCTV thật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3.2. Theo dõi đa đối tượng trong 1 camera — ByteTrack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943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Mô hình tracking-by-detection: gán ID nhất quán cho từng phương tiện qua các khung.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Bộ lọc Kalman dự đoán vị trí + ghép cặp Hungarian; ngưỡng kép (high/low) giữ được vật độ tin cậy thấp.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frame_rate đặt đúng theo FPS thật của từng camera (đã sửa lỗi hardcode → ảnh hưởng track_buffer).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Nền tảng cho quỹ đạo &amp; dự đoán hướng đi phía sau.</a:t>
            </a:r>
          </a:p>
        </p:txBody>
      </p:sp>
      <p:pic>
        <p:nvPicPr>
          <p:cNvPr id="7" name="Picture 6" descr="20_demo_realrun_detect_track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2514600"/>
            <a:ext cx="43891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5833872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Theo dõi phương tiện kèm track ID trên video thật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3.3. Dự đoán hướng đi — Goal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97510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56272"/>
                </a:solidFill>
                <a:latin typeface="Arial"/>
              </a:rPr>
              <a:t>Đóng góp chính của đồ 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61264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Bài toán: từ quỹ đạo theo dõi, phân loại hướng đi tại ngã tư: đi thẳng / rẽ trái / rẽ phải / quay đầu.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33 đặc trưng chuyển động (tốc độ, biến thiên góc hướng, gia tốc ngang, kích thước hộp…).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Mô hình: Gradient Boosting + hiệu chỉnh xác suất Platt (CalibratedClassifierCV).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Đo ECE để mức tin cậy hiển thị phản ánh đúng tần suất đúng thực tế.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Kết quả dự đoán được chiếu lên bản đồ đường thật (OpenStreetMap).</a:t>
            </a:r>
          </a:p>
        </p:txBody>
      </p:sp>
      <p:pic>
        <p:nvPicPr>
          <p:cNvPr id="8" name="Picture 7" descr="04_pho_hue_so_do_giao_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2514600"/>
            <a:ext cx="3246120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0" y="578815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Đồ thị giao lộ thật (OSM): 101 nút / 742 đoạn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3.4. Phát hiện vi phạm &amp; nhận dạng biển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6126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Suy diễn theo LUẬT trên vị trí/quỹ đạo phương tiện trong khung cảnh: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>
                <a:solidFill>
                  <a:srgbClr val="556272"/>
                </a:solidFill>
                <a:latin typeface="Arial"/>
              </a:rPr>
              <a:t>   – Vượt đèn đỏ / vượt vạch dừng khi đèn đỏ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>
                <a:solidFill>
                  <a:srgbClr val="556272"/>
                </a:solidFill>
                <a:latin typeface="Arial"/>
              </a:rPr>
              <a:t>   – Đi sai làn (vùng làn cấu hình theo từng camera)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Vùng quan tâm (ROI: vạch dừng, làn) cấu hình trực tiếp trên giao diện, đẩy nóng không cần khởi động lại.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Nhận dạng biển số 2 giai đoạn (phát hiện → OCR) hỗ trợ lưu/truy xuất thông tin phương tiện nghi vấn.</a:t>
            </a:r>
          </a:p>
        </p:txBody>
      </p:sp>
      <p:pic>
        <p:nvPicPr>
          <p:cNvPr id="7" name="Picture 6" descr="22_demo_realrun_lane_violation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514600"/>
            <a:ext cx="43891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6600" y="583387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Phát hiện đi sai làn (xe vi phạm tô đỏ)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4. Dữ liệu &amp; quy trình huấn luyện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97510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56272"/>
                </a:solidFill>
                <a:latin typeface="Arial"/>
              </a:rPr>
              <a:t>Toàn bộ trên dữ liệu CCTV giao thông thật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6400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Rào cản: không có bộ dữ liệu phát hiện đủ lớn, đúng đặc thù giao thông VN.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Giải pháp: TỰ ĐỘNG GÁN NHÃN (auto-label) bằng mô hình "giáo viên" mạnh + kiểm định mẫu thủ công (&gt;85% hợp lệ).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Tập phát hiện: 15.957 ảnh / 623.329 khung bao (hợp nhất ~124 clip CCTV).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Dữ liệu Goal Classifier: 6.959 track → 5.332 huấn luyện / 1.334 kiểm thử (tách theo track).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A2230"/>
                </a:solidFill>
                <a:latin typeface="Arial"/>
              </a:rPr>
              <a:t>•  Bản đồ: OpenStreetMap khu Phố Huế – Trần Khát Chân (101 nút / 742 đoạn).</a:t>
            </a:r>
          </a:p>
        </p:txBody>
      </p:sp>
      <p:pic>
        <p:nvPicPr>
          <p:cNvPr id="8" name="Picture 7" descr="01_ban_do_hanoi_district3_top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2514600"/>
            <a:ext cx="329184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583387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Khu vực thu thập dữ liệu (Hà Nội)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5.1. Kết quả — Phát hiện (YOLO11s_vn)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2551176" cy="1234440"/>
          </a:xfrm>
          <a:prstGeom prst="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414016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850"/>
                </a:solidFill>
                <a:latin typeface="Arial"/>
              </a:rPr>
              <a:t>89,5%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35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Arial"/>
              </a:rPr>
              <a:t>mAP@0.5 (báo cáo)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2286000"/>
            <a:ext cx="2551176" cy="1234440"/>
          </a:xfrm>
          <a:prstGeom prst="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2414016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805A"/>
                </a:solidFill>
                <a:latin typeface="Arial"/>
              </a:rPr>
              <a:t>93,25%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3035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Arial"/>
              </a:rPr>
              <a:t>mAP@0.5 — nhãn NGƯỜI kiểm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2286000"/>
            <a:ext cx="2551176" cy="1234440"/>
          </a:xfrm>
          <a:prstGeom prst="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414016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850"/>
                </a:solidFill>
                <a:latin typeface="Arial"/>
              </a:rPr>
              <a:t>94,6%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035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Arial"/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61704" y="2286000"/>
            <a:ext cx="2551176" cy="1234440"/>
          </a:xfrm>
          <a:prstGeom prst="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2414016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10E2B"/>
                </a:solidFill>
                <a:latin typeface="Arial"/>
              </a:rPr>
              <a:t>83,3%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3035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Arial"/>
              </a:rPr>
              <a:t>Recall</a:t>
            </a:r>
          </a:p>
        </p:txBody>
      </p:sp>
      <p:pic>
        <p:nvPicPr>
          <p:cNvPr id="18" name="Picture 17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3611880"/>
            <a:ext cx="2926079" cy="2194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583387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Ma trận nhầm lẫn (đối chiếu nhãn người)</a:t>
            </a:r>
          </a:p>
        </p:txBody>
      </p:sp>
      <p:pic>
        <p:nvPicPr>
          <p:cNvPr id="20" name="Picture 19" descr="frame_002_src00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611880"/>
            <a:ext cx="2926079" cy="2194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9360" y="583387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Phát hiện trên nút Xã Đàn (nhãn người kiểm)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5.2. Kết quả — Dự đoán hướng đi (Goal Classifier)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2551176" cy="1234440"/>
          </a:xfrm>
          <a:prstGeom prst="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414016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850"/>
                </a:solidFill>
                <a:latin typeface="Arial"/>
              </a:rPr>
              <a:t>60,12%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35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Arial"/>
              </a:rPr>
              <a:t>Accuracy (vs nhãn auto)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2286000"/>
            <a:ext cx="2551176" cy="1234440"/>
          </a:xfrm>
          <a:prstGeom prst="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2414016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805A"/>
                </a:solidFill>
                <a:latin typeface="Arial"/>
              </a:rPr>
              <a:t>65,0%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3035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Arial"/>
              </a:rPr>
              <a:t>Accuracy — nhãn NGƯỜI (CI 58–71%)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2286000"/>
            <a:ext cx="2551176" cy="1234440"/>
          </a:xfrm>
          <a:prstGeom prst="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414016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850"/>
                </a:solidFill>
                <a:latin typeface="Arial"/>
              </a:rPr>
              <a:t>54,18%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035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Arial"/>
              </a:rPr>
              <a:t>Balanced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61704" y="2286000"/>
            <a:ext cx="2551176" cy="1234440"/>
          </a:xfrm>
          <a:prstGeom prst="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2414016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10E2B"/>
                </a:solidFill>
                <a:latin typeface="Arial"/>
              </a:rPr>
              <a:t>0,101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3035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272"/>
                </a:solidFill>
                <a:latin typeface="Arial"/>
              </a:rPr>
              <a:t>ECE (hiệu chỉnh)</a:t>
            </a:r>
          </a:p>
        </p:txBody>
      </p:sp>
      <p:pic>
        <p:nvPicPr>
          <p:cNvPr id="18" name="Picture 17" descr="confusion_matrix_hu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50" y="3611880"/>
            <a:ext cx="2493818" cy="2194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583387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Ma trận nhầm lẫn — model vs nhãn NGƯỜI (n=200)</a:t>
            </a:r>
          </a:p>
        </p:txBody>
      </p:sp>
      <p:pic>
        <p:nvPicPr>
          <p:cNvPr id="20" name="Picture 19" descr="reliability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668" y="3611880"/>
            <a:ext cx="2282342" cy="2194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9360" y="583387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Reliability diagram (ECE = 0,101)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5.3. Sản phẩm chạy thật — Phát hiện, theo dõi &amp; vi phạm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21_demo_realrun_detect_track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" y="2423160"/>
            <a:ext cx="4328159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9671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UC1 — Phát hiện &amp; theo dõi (track ID) trên CCTV Phố Huế</a:t>
            </a:r>
          </a:p>
        </p:txBody>
      </p:sp>
      <p:pic>
        <p:nvPicPr>
          <p:cNvPr id="8" name="Picture 7" descr="23_demo_realrun_lane_violation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60" y="2423160"/>
            <a:ext cx="4328159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69671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UC2 — Phát hiện vi phạm đi sai làn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5.4. Sản phẩm chạy thật — Dashboard &amp; bản đồ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14_ui_dashboard_camera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28887"/>
            <a:ext cx="5394960" cy="30346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9671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Dashboard giám sát đa camera thời gian thực</a:t>
            </a:r>
          </a:p>
        </p:txBody>
      </p:sp>
      <p:pic>
        <p:nvPicPr>
          <p:cNvPr id="8" name="Picture 7" descr="15_ui_mapview_route_predi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528887"/>
            <a:ext cx="5394960" cy="30346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69671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UC3 — Hướng đi dự đoán hiển thị trên bản đồ thật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5.5. Đánh giá theo dõi &amp; phương pháp đo trung thực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749807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1A2230"/>
                </a:solidFill>
                <a:latin typeface="Arial"/>
              </a:rPr>
              <a:t>•  MOTA/IDF1 cần ground-truth track đồng bộ từng khung — video thật không có sẵn.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1A2230"/>
                </a:solidFill>
                <a:latin typeface="Arial"/>
              </a:rPr>
              <a:t>•  GT bán tự động (tái dùng vết ByteTrack + sửa ID) → FP≈FN≈0 theo cấu trúc.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1A2230"/>
                </a:solidFill>
                <a:latin typeface="Arial"/>
              </a:rPr>
              <a:t>•  → MOTA (99,5%) / IDF1 (100,8%) là ARTIFACT; chỉ số lần ĐỔI ID mới có ý nghĩa.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1A2230"/>
                </a:solidFill>
                <a:latin typeface="Arial"/>
              </a:rPr>
              <a:t>•  Bài học đo lường: xác thực với nhãn NGƯỜI, báo khoảng tin cậy (Wilson/bootstrap) + ECE, thừa nhận giới hạn thay vì che giấu.</a:t>
            </a:r>
          </a:p>
        </p:txBody>
      </p:sp>
      <p:pic>
        <p:nvPicPr>
          <p:cNvPr id="7" name="Picture 6" descr="10_tracking_mota_id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39390"/>
            <a:ext cx="3520440" cy="2933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578815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272"/>
                </a:solidFill>
                <a:latin typeface="Arial"/>
              </a:rPr>
              <a:t>Chỉ số MOTA/IDF1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6. Thảo luận — điểm mạnh &amp; hạn chế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A2230"/>
                </a:solidFill>
                <a:latin typeface="Arial"/>
              </a:rPr>
              <a:t>•  Điểm mạnh: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Vận hành thật trên CCTV VN; xác thực bằng nhãn NGƯỜI, có khoảng tin cậy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Nhãn người (65,0%) &gt; số cũ (60,12%) → nhãn auto nhiễu 24,5% đã DÌM điểm; số báo cáo là thận trọng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Phát hiện &amp; sửa lỗi ẩn (lệch horizon train/inference; frame_rate; đọc ảnh path Unicode)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A2230"/>
                </a:solidFill>
                <a:latin typeface="Arial"/>
              </a:rPr>
              <a:t>•  Hạn chế (thừa nhận):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mAP 93,25% là IN-DOMAIN (Xã Đàn có trong train) — chưa đo tổng quát hóa OOD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Lớp "quay đầu" rất ít mẫu; recall xe máy ~79% (bỏ sót vật nhỏ)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>
                <a:solidFill>
                  <a:srgbClr val="556272"/>
                </a:solidFill>
                <a:latin typeface="Arial"/>
              </a:rPr>
              <a:t>   – Tracking chỉ dùng IDF1/số đổi ID; MOTA chưa đo độc lập được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7. Kết luận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10972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Xây dựng hoàn chỉnh pipeline giám sát giao thông AI 4 thành phần, vận hành thật trên CCTV Hà Nội.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Phát hiện đạt mAP@0.5 = 89,5% (93,25% trên nhãn người kiểm, in-domain).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Goal Classifier — đóng góp chính — dự đoán hướng đi đạt 65,0% (nhãn người, CI 58–71%), có hiệu chỉnh xác suất.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Tích hợp phát hiện vi phạm, nhận dạng biển số, dashboard &amp; bản đồ dự đoán hướng đi.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Xuyên suốt: phương pháp đánh giá TRUNG THỰC — xác thực bằng nhãn người, báo khoảng tin cậy, thừa nhận giới hạn.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Đóng góp nổi bật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10972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Quy trình TỰ ĐỘNG GÁN NHÃN + kiểm định mẫu → vượt rào cản thiếu dữ liệu phát hiện giao thông VN.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Goal Classifier dự đoán hướng đi trên dữ liệu thật: so sánh kiến trúc, hiệu chỉnh xác suất (ECE), khớp horizon train/inference.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Bộ công cụ ĐÁNH GIÁ trung thực: hand-verify (nhãn người + khoảng tin cậy), quy trình đo MOTA/IDF1 và chỉ rõ giới hạn của nó.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Hệ thống tích hợp đầy đủ: AI pipeline + backend + dashboard + bản đồ, đóng gói chạy demo bằng 1 lệnh.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850"/>
                </a:solidFill>
                <a:latin typeface="Arial"/>
              </a:rPr>
              <a:t>Hạn chế còn tồn tại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64190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850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10972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Xây tập kiểm thử phát hiện ĐỘC LẬP (khác miền/OOD) để đo tổng quát hóa thật.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Bổ sung dữ liệu &amp; phương pháp cho lớp "quay đầu" và Re-ID xe máy (đặc thù VN, chưa có dataset công khai).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Hoàn tất ground-truth theo dõi độc lập để báo MOTA/IDF1 đúng bản chất.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Wire hoàn chỉnh nhận dạng biển số vào luồng vận hành; mở rộng theo dõi xuyên nhiều camera.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A2230"/>
                </a:solidFill>
                <a:latin typeface="Arial"/>
              </a:rPr>
              <a:t>•  Đo hiệu năng thực tế trên cấu hình 6 camera đồng thời.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70916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850"/>
                </a:solidFill>
                <a:latin typeface="Arial"/>
              </a:rPr>
              <a:t>Phan Sỹ Hùng — ThS. Vũ Đức Vượng (GVHD)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6272"/>
                </a:solidFill>
                <a:latin typeface="Arial"/>
              </a:rPr>
              <a:t>Trường CNTT &amp; Truyền thông · ĐHBK Hà Nội · 07/2026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